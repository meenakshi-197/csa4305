
<file path=[Content_Types].xml><?xml version="1.0" encoding="utf-8"?>
<Types xmlns="http://schemas.openxmlformats.org/package/2006/content-types">
  <Default Extension="jpeg" ContentType="image/jpeg"/>
  <Default Extension="jpg" ContentType="image/jpeg"/>
  <Default Extension="jpg&amp;w=3840&amp;q=90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58" r:id="rId4"/>
    <p:sldId id="273" r:id="rId5"/>
    <p:sldId id="283" r:id="rId6"/>
    <p:sldId id="272" r:id="rId7"/>
    <p:sldId id="287" r:id="rId8"/>
    <p:sldId id="266" r:id="rId9"/>
    <p:sldId id="268" r:id="rId10"/>
    <p:sldId id="276" r:id="rId11"/>
    <p:sldId id="288" r:id="rId12"/>
    <p:sldId id="277" r:id="rId13"/>
    <p:sldId id="289" r:id="rId14"/>
    <p:sldId id="280" r:id="rId15"/>
    <p:sldId id="290" r:id="rId16"/>
    <p:sldId id="278" r:id="rId17"/>
    <p:sldId id="291" r:id="rId18"/>
    <p:sldId id="284" r:id="rId19"/>
    <p:sldId id="292" r:id="rId20"/>
    <p:sldId id="296" r:id="rId21"/>
    <p:sldId id="274" r:id="rId22"/>
    <p:sldId id="293" r:id="rId23"/>
    <p:sldId id="285" r:id="rId24"/>
    <p:sldId id="294" r:id="rId25"/>
    <p:sldId id="26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BA78F-D767-3CEB-E141-C15AF7A8C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0ABD6-527B-A4A9-E1E8-C78FC89F5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FAD74-098C-FDED-D23C-7869722C5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EE974-47E5-9DAF-7B1E-3045E93D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ED0E5-DE9C-2018-2EF8-3279171E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71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8373D-8E62-A441-2E16-E09E1C74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A6CF9-6E1B-5568-F5E9-D762904EC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98794-F739-C4E4-D867-1F9DACC2F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F5785-E3CB-7683-1F10-629D2A1B4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42099-AFB8-08FF-2D27-CD44759C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59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90523-617C-7791-CC72-2B87FA4E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7882C-5D26-71CF-29BC-7F0FAF1CC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78B58-D725-58B3-1C2A-7F4C99AF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9C480-2A6E-D746-C915-CFED5EFA2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D3F97-B9BA-7431-256B-CB508B2C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3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01D20-A3D0-DC2C-ED7D-13EC59E76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7F52A-EB1A-1D5A-2380-58ED36ABD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F8BC1-D3CE-020D-08F6-8C6EC3C40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6C243-9A9E-6C0D-84E0-F3231E0AA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F82EF-E376-4703-DC68-EE81C6D4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81B24-AB96-A3B9-BF7C-62B49EF4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0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4927D-2E7D-14FE-089A-6E642F282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B63FE-32F8-5263-2F57-FF3842450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9EB80-C6D8-FA69-81F8-A86422249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49EB4-7566-49B1-71D6-3C60BD6B5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91F410-CEFA-4264-B229-DFAADCA76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F5C33-8C3F-D73C-90C6-D23C604C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30CAA-C07E-6FE9-3BEB-946895C63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A771B-2D87-CA53-E926-5E48544DF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0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F34C-0719-28F2-B7F8-25532317B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F26E2-DBD6-9596-50C6-20CBEBEE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B8034-8C15-5798-035E-3393A053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6FCCC-0B05-A6DF-088B-DCC28159C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3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62FC6A-2BFA-3B66-5278-52C18D965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782752-0449-C299-2422-D9169533E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BE18A-76F6-DC22-FCD6-A1FF8289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55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53E6-E2CE-70C9-9D62-1DC83FF3C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E6C30-AB89-566C-B2B7-6F9660D6E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AE6A6-2775-D139-62DE-C803E7FB6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73251-6BE4-C34A-8560-DB9718E1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E3A74-C8E9-7290-1572-E7FEF454B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E64D6-4790-A18D-B47E-090FBED97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6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7E16C-B580-CEA0-D04B-1F8B3CC8E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CEF44-3A84-0BCD-E99D-EB78EF37F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21AB1-86C9-5803-E91A-6061BB3CF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7F1BC-4B2D-E3F0-D28E-93DFAC96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84217-85C9-BDFE-4083-D01769A4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52F25-95BC-D374-9421-6B5A8E39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7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E6AB8-E19A-6101-5E10-D95E9493B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1FAFA-4A62-972F-F416-C685032BB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0F653-4D24-DEF3-BC20-6E7BD156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BC66A-41A7-C506-087E-C2158DC8C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EBEDD-57DB-8431-E7C4-F39B8CFFC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4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7125EB-B497-6D24-0FBC-8EE78C2AD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E03D8-6531-A548-B4AD-7E0711630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23401-90E4-6AE6-1A77-8E2F5072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84EB7-6E01-D7C8-675A-52D7E2621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83C3D-7BB5-9C95-5CB4-18C94EEF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47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3E1FB4-80CC-0530-402E-7C50703C3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8235E-4A13-ECC6-BEFE-42885DF37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BACA6-31D9-92A5-97E1-21CB003E4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7C4166-25F7-4967-A77D-E6894612451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65F30-0E51-BB87-5CB6-64DEA993B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A113F-BE69-41ED-DB20-F8AFFB1A6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3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&amp;w=3840&amp;q=90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A0F41-1C35-AE77-50E4-282AF46C7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075" y="2378665"/>
            <a:ext cx="10903243" cy="108636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REAL TIME WEB BASED AUCTION AND BIDDING SYSTEM</a:t>
            </a:r>
            <a:endParaRPr lang="en-US" sz="18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F7185-5ADF-7A42-B356-512CC7F69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5481" y="4333305"/>
            <a:ext cx="5961927" cy="2766409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192411091 - POOJASREE B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192471035 - AMRITA ANAIKUMAR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192471048 - VENNA MEENAKSHI REDDY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192471024 - SRIJITHA S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192311363 - MATHUSRI P</a:t>
            </a: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F2B30C-F22E-5782-E613-E4AC98692A8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86" y="295053"/>
            <a:ext cx="11631485" cy="12153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83C442-9300-B34B-917E-D97C6B021752}"/>
              </a:ext>
            </a:extLst>
          </p:cNvPr>
          <p:cNvSpPr txBox="1"/>
          <p:nvPr/>
        </p:nvSpPr>
        <p:spPr>
          <a:xfrm>
            <a:off x="884075" y="4274165"/>
            <a:ext cx="2249590" cy="96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SUDHAGAR 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8249F-6FCB-DDE1-F4F9-21A2B4D40475}"/>
              </a:ext>
            </a:extLst>
          </p:cNvPr>
          <p:cNvSpPr txBox="1"/>
          <p:nvPr/>
        </p:nvSpPr>
        <p:spPr>
          <a:xfrm>
            <a:off x="3806960" y="3496737"/>
            <a:ext cx="4572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CSA4305 – Internet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4947" y="1788851"/>
            <a:ext cx="7361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632772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1BB5B-0A18-8D1F-1DB2-954946F2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A1A0-D2B7-BFA8-22BA-3E072E1B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3765" y="615700"/>
            <a:ext cx="5257800" cy="70338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ABSTRACT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E21EDA1-B8FB-A6F8-FCF3-703F6AD1FE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6095" y="1967283"/>
            <a:ext cx="7270749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platform that enables users to buy and sell products through online auctions.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user registration, authentication, and profile management.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sellers to create, update, and manage auction listings. Supports real-time bidding with automatic highest bid tracking.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secure payment processing and transaction management.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an admin module for monitoring users, auctions, and generating reports.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4A49425E-8003-98D3-5C2C-D2C884EC4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9964A488-F961-4966-D3AD-4F192861F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D60F6D-4E3F-70F0-E59F-EEA2A926E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060" y="2422433"/>
            <a:ext cx="3886199" cy="328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51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BD830-F963-0ED2-93F7-99249ACD7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3765" y="615700"/>
            <a:ext cx="5257800" cy="70338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INTRODUCTION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3E36E60-F9F8-B012-6D19-583BC8CE93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12344" y="2066580"/>
            <a:ext cx="727074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auctions have transformed traditional buying and selling methods.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buyers and sellers to participate from anywhere through the internet.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geographical limitations of physical auctions.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transparency through real-time bidding.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transactions and fair winner selection.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ease of use with an interactive and responsive interface.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67BA78-DE75-E0C9-7562-2585F02AC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5" y="2380162"/>
            <a:ext cx="3906249" cy="3620151"/>
          </a:xfrm>
          <a:prstGeom prst="rect">
            <a:avLst/>
          </a:prstGeom>
        </p:spPr>
      </p:pic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18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83C6-0DAF-2849-1299-0869EE1B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0F7AE-A9DE-21CB-AEDC-90CB3804E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7308" y="251350"/>
            <a:ext cx="6417128" cy="1109120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15938D94-A362-6A25-EBEE-A7151DF5D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852F2B4-CC57-93C6-80B6-4AD43EDADD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4114" y="1884406"/>
            <a:ext cx="7508286" cy="4426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auctions require physical presence and are time-consuming.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bidding processes are prone to errors and lack transparency.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bids and determining the highest bidder efficiently.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accessibility for buyers and sellers from different locations.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concerns in user authentication and payment processing.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management for auction records and reports.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42E5C-2AA9-9763-E41C-361FF8F3D6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04" t="30728" b="14445"/>
          <a:stretch>
            <a:fillRect/>
          </a:stretch>
        </p:blipFill>
        <p:spPr>
          <a:xfrm>
            <a:off x="7772400" y="2706121"/>
            <a:ext cx="4191000" cy="2508801"/>
          </a:xfrm>
          <a:prstGeom prst="rect">
            <a:avLst/>
          </a:prstGeom>
        </p:spPr>
      </p:pic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486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4A03F-2323-AFC6-5192-07F1948F4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D3F48-3CE6-27EC-9B74-A1A085914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6233" y="508828"/>
            <a:ext cx="5257800" cy="703387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278AE6B-28EF-4378-F17A-A159377686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49372" y="2144657"/>
            <a:ext cx="9341717" cy="3683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secure and user-friendly online auction platform. 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secure user registration, login, and profile management. 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sellers to add, update, and manage products for auction. 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administrators with tools to manage users, auctions, and system activities. 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reports for monitoring auction and transaction activities. </a:t>
            </a:r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1604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0FB1B-CFA1-1FD9-5ADB-98DCDDA8D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699" y="156197"/>
            <a:ext cx="7063273" cy="106245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66" y="231128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5636" y="156197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A05B2DD-6A2D-0F04-8648-852E8BA6D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408395"/>
              </p:ext>
            </p:extLst>
          </p:nvPr>
        </p:nvGraphicFramePr>
        <p:xfrm>
          <a:off x="925975" y="1493134"/>
          <a:ext cx="10255170" cy="51379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1034">
                  <a:extLst>
                    <a:ext uri="{9D8B030D-6E8A-4147-A177-3AD203B41FA5}">
                      <a16:colId xmlns:a16="http://schemas.microsoft.com/office/drawing/2014/main" val="1158222935"/>
                    </a:ext>
                  </a:extLst>
                </a:gridCol>
                <a:gridCol w="1502394">
                  <a:extLst>
                    <a:ext uri="{9D8B030D-6E8A-4147-A177-3AD203B41FA5}">
                      <a16:colId xmlns:a16="http://schemas.microsoft.com/office/drawing/2014/main" val="2067621578"/>
                    </a:ext>
                  </a:extLst>
                </a:gridCol>
                <a:gridCol w="2599674">
                  <a:extLst>
                    <a:ext uri="{9D8B030D-6E8A-4147-A177-3AD203B41FA5}">
                      <a16:colId xmlns:a16="http://schemas.microsoft.com/office/drawing/2014/main" val="1301731845"/>
                    </a:ext>
                  </a:extLst>
                </a:gridCol>
                <a:gridCol w="2051034">
                  <a:extLst>
                    <a:ext uri="{9D8B030D-6E8A-4147-A177-3AD203B41FA5}">
                      <a16:colId xmlns:a16="http://schemas.microsoft.com/office/drawing/2014/main" val="3291799776"/>
                    </a:ext>
                  </a:extLst>
                </a:gridCol>
                <a:gridCol w="2051034">
                  <a:extLst>
                    <a:ext uri="{9D8B030D-6E8A-4147-A177-3AD203B41FA5}">
                      <a16:colId xmlns:a16="http://schemas.microsoft.com/office/drawing/2014/main" val="334610575"/>
                    </a:ext>
                  </a:extLst>
                </a:gridCol>
              </a:tblGrid>
              <a:tr h="748781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Title /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Technology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Gap / Relevance to Your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376036"/>
                  </a:ext>
                </a:extLst>
              </a:tr>
              <a:tr h="1210530"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Saif, E. R. 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A Modular Object-Oriented Online Bidding System for Efficient Electronic Auction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>
                          <a:solidFill>
                            <a:schemeClr val="tx1"/>
                          </a:solidFill>
                          <a:latin typeface="Times New Roman"/>
                        </a:rPr>
                        <a:t>C++, Object-Oriented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>
                          <a:solidFill>
                            <a:schemeClr val="tx1"/>
                          </a:solidFill>
                          <a:latin typeface="Times New Roman"/>
                        </a:rPr>
                        <a:t>Standalone desktop app only; no web-based real-time multi-user bidding, database storage, or secure payment integration.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682731"/>
                  </a:ext>
                </a:extLst>
              </a:tr>
              <a:tr h="1210530">
                <a:tc>
                  <a:txBody>
                    <a:bodyPr/>
                    <a:lstStyle/>
                    <a:p>
                      <a:pPr algn="just"/>
                      <a:r>
                        <a:rPr sz="1300" b="0">
                          <a:solidFill>
                            <a:schemeClr val="tx1"/>
                          </a:solidFill>
                          <a:latin typeface="Times New Roman"/>
                        </a:rPr>
                        <a:t>Vaishnavi K., Santhiya S., Ashvitha S., Anusha 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Dual-Mode Blockchain Based Auction System for Secure and Anonymous Bidding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Blockchain, </a:t>
                      </a:r>
                      <a:r>
                        <a:rPr sz="1300" b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zk</a:t>
                      </a:r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-SNARKs, Ring Signatures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>
                          <a:solidFill>
                            <a:schemeClr val="tx1"/>
                          </a:solidFill>
                          <a:latin typeface="Times New Roman"/>
                        </a:rPr>
                        <a:t>Focuses on cryptographic anonymity and security; lacks integrated admin reporting and a full e-commerce workflow.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235014"/>
                  </a:ext>
                </a:extLst>
              </a:tr>
              <a:tr h="1048294">
                <a:tc>
                  <a:txBody>
                    <a:bodyPr/>
                    <a:lstStyle/>
                    <a:p>
                      <a:pPr algn="just"/>
                      <a:r>
                        <a:rPr sz="1300" b="0">
                          <a:solidFill>
                            <a:schemeClr val="tx1"/>
                          </a:solidFill>
                          <a:latin typeface="Times New Roman"/>
                        </a:rPr>
                        <a:t>Murugan J.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>
                          <a:solidFill>
                            <a:schemeClr val="tx1"/>
                          </a:solidFill>
                          <a:latin typeface="Times New Roman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Empowering Farmers: A Real-Time Bidding System with Integrated 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Machine Learning, Real-Time Bidding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Domain-specific to agriculture; lacks a generalized multi-role platform with payment and admin management.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038157"/>
                  </a:ext>
                </a:extLst>
              </a:tr>
              <a:tr h="886057">
                <a:tc>
                  <a:txBody>
                    <a:bodyPr/>
                    <a:lstStyle/>
                    <a:p>
                      <a:pPr algn="just"/>
                      <a:r>
                        <a:rPr sz="1300" b="0">
                          <a:solidFill>
                            <a:schemeClr val="tx1"/>
                          </a:solidFill>
                          <a:latin typeface="Times New Roman"/>
                        </a:rPr>
                        <a:t>Goyal H., Kundnani M., Singh M.K., Gupta 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>
                          <a:solidFill>
                            <a:schemeClr val="tx1"/>
                          </a:solidFill>
                          <a:latin typeface="Times New Roman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Analysis, Design and Implementation of a Web-Based Online Auction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Web Application (HTML, PHP/MERN)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sz="1300" b="0" dirty="0">
                          <a:solidFill>
                            <a:schemeClr val="tx1"/>
                          </a:solidFill>
                          <a:latin typeface="Times New Roman"/>
                        </a:rPr>
                        <a:t>Limited focus on scalability, security, and structured admin reporting for large-scale auctions.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092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416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178F64-6825-E907-77B1-0254401A6E46}"/>
              </a:ext>
            </a:extLst>
          </p:cNvPr>
          <p:cNvSpPr txBox="1"/>
          <p:nvPr/>
        </p:nvSpPr>
        <p:spPr>
          <a:xfrm>
            <a:off x="1304014" y="1360728"/>
            <a:ext cx="7124370" cy="52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8 – Decent Work and Economic Growth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online buying and selling opportunities.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sellers reach more customers through a digital marketplace.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efficient and accessible commercial activities.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web technologies to modernize the traditional auction process.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bidding and digital transaction management.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technological innovation in e-commerce.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12 – Responsible Consumption and Production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platform for reselling and purchasing existing products.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support reuse of products instead of unnecessary new production.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connect sellers and buyers efficiently.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16 – Peace, Justice and Strong Institutions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transparency through real-time bidding and maintained bidding history.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and transaction records improve trust.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monitoring helps ensure fair and reliable auction activities.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A43A88-0EE2-EC8A-D317-92193CAAF5CC}"/>
              </a:ext>
            </a:extLst>
          </p:cNvPr>
          <p:cNvSpPr txBox="1"/>
          <p:nvPr/>
        </p:nvSpPr>
        <p:spPr>
          <a:xfrm>
            <a:off x="2010136" y="272957"/>
            <a:ext cx="81717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 GOALS (SDGS)</a:t>
            </a:r>
          </a:p>
        </p:txBody>
      </p:sp>
      <p:pic>
        <p:nvPicPr>
          <p:cNvPr id="9" name="Picture 2" descr="Saveetha University | Chennai">
            <a:extLst>
              <a:ext uri="{FF2B5EF4-FFF2-40B4-BE49-F238E27FC236}">
                <a16:creationId xmlns:a16="http://schemas.microsoft.com/office/drawing/2014/main" id="{0A91126E-66CF-C1C7-F245-6F05D502C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Saveetha School of Engineering, Chennai ...">
            <a:extLst>
              <a:ext uri="{FF2B5EF4-FFF2-40B4-BE49-F238E27FC236}">
                <a16:creationId xmlns:a16="http://schemas.microsoft.com/office/drawing/2014/main" id="{FBDC62D0-78E0-6B61-0E07-A96252205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321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CC65-440A-0A7E-887F-A4263793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2844" y="286106"/>
            <a:ext cx="7979641" cy="1200329"/>
          </a:xfrm>
        </p:spPr>
        <p:txBody>
          <a:bodyPr>
            <a:noAutofit/>
          </a:bodyPr>
          <a:lstStyle/>
          <a:p>
            <a:pPr algn="ctr"/>
            <a:b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&amp;PROPOSED SYSTEM</a:t>
            </a:r>
            <a:b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33699-ED60-B116-8C30-CBA16DA2F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4300" y="2705198"/>
            <a:ext cx="6569084" cy="3365500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Traditional auction system and existing online auction   platforms are available.</a:t>
            </a:r>
            <a:b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Sellers list products for auction.</a:t>
            </a:r>
            <a:b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Buyers place bids on products.</a:t>
            </a:r>
            <a:b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Highest bidder wins the auction.</a:t>
            </a:r>
            <a:b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Payment is completed after winning.</a:t>
            </a:r>
            <a:b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• Some systems are complex and have service charges.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860652-590B-A84B-262D-39EFD9EE7FF1}"/>
              </a:ext>
            </a:extLst>
          </p:cNvPr>
          <p:cNvSpPr/>
          <p:nvPr/>
        </p:nvSpPr>
        <p:spPr>
          <a:xfrm>
            <a:off x="312519" y="2068390"/>
            <a:ext cx="6014357" cy="40668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E5D15-E5B0-F28B-E4A8-4890BBC4395F}"/>
              </a:ext>
            </a:extLst>
          </p:cNvPr>
          <p:cNvSpPr txBox="1"/>
          <p:nvPr/>
        </p:nvSpPr>
        <p:spPr>
          <a:xfrm>
            <a:off x="358784" y="154128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C120F-4B84-BB50-D7B6-4909417C36D3}"/>
              </a:ext>
            </a:extLst>
          </p:cNvPr>
          <p:cNvSpPr txBox="1"/>
          <p:nvPr/>
        </p:nvSpPr>
        <p:spPr>
          <a:xfrm>
            <a:off x="6582691" y="3114925"/>
            <a:ext cx="6095999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bidding delivers instant live updates.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system rejects invalid or duplicate bids.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Optimized database enables faster search results.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access control for all user types.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Instant alerts for bids, closure, and payments.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Admin dashboard offers analytics-based reporting.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212753-94CF-8193-903D-CD11FBD67CDD}"/>
              </a:ext>
            </a:extLst>
          </p:cNvPr>
          <p:cNvSpPr/>
          <p:nvPr/>
        </p:nvSpPr>
        <p:spPr>
          <a:xfrm>
            <a:off x="6582692" y="2083525"/>
            <a:ext cx="5442856" cy="40517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A7C493-5B1B-C5AA-EFAA-E3A18E3DE3C3}"/>
              </a:ext>
            </a:extLst>
          </p:cNvPr>
          <p:cNvSpPr txBox="1"/>
          <p:nvPr/>
        </p:nvSpPr>
        <p:spPr>
          <a:xfrm>
            <a:off x="7758815" y="2156842"/>
            <a:ext cx="37437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1400" dirty="0">
              <a:solidFill>
                <a:srgbClr val="C00000"/>
              </a:solidFill>
            </a:endParaRPr>
          </a:p>
        </p:txBody>
      </p:sp>
      <p:pic>
        <p:nvPicPr>
          <p:cNvPr id="13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049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A9B3-E999-B1C3-D0F7-604A83B9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186" y="274673"/>
            <a:ext cx="6892471" cy="1137405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A41094-293E-3F9E-C5CF-691D3825C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96" t="6828" r="3683" b="2017"/>
          <a:stretch/>
        </p:blipFill>
        <p:spPr>
          <a:xfrm>
            <a:off x="359227" y="1319087"/>
            <a:ext cx="8734145" cy="5198212"/>
          </a:xfrm>
          <a:prstGeom prst="rect">
            <a:avLst/>
          </a:prstGeom>
        </p:spPr>
      </p:pic>
      <p:pic>
        <p:nvPicPr>
          <p:cNvPr id="6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13475" t="1580" r="14445" b="-1"/>
          <a:stretch/>
        </p:blipFill>
        <p:spPr>
          <a:xfrm>
            <a:off x="9093374" y="1412078"/>
            <a:ext cx="2793827" cy="45984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04411" y="6010539"/>
            <a:ext cx="2571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 – UCI Shill Bidding Dataset</a:t>
            </a:r>
          </a:p>
        </p:txBody>
      </p:sp>
    </p:spTree>
    <p:extLst>
      <p:ext uri="{BB962C8B-B14F-4D97-AF65-F5344CB8AC3E}">
        <p14:creationId xmlns:p14="http://schemas.microsoft.com/office/powerpoint/2010/main" val="2862966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767A6-4DF6-1D41-19BA-71E0D5FD5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F4F9A-3F1F-0FE9-2F4D-08C8C8EC4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113505"/>
            <a:ext cx="10515600" cy="1325563"/>
          </a:xfrm>
        </p:spPr>
        <p:txBody>
          <a:bodyPr>
            <a:normAutofit/>
          </a:bodyPr>
          <a:lstStyle/>
          <a:p>
            <a:pPr algn="ctr"/>
            <a:br>
              <a:rPr lang="en-IN" sz="3600" b="1" dirty="0"/>
            </a:b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87DFB5-5056-D75F-2773-6E68C2BDD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737" y="1766707"/>
            <a:ext cx="7568292" cy="4787446"/>
          </a:xfrm>
        </p:spPr>
        <p:txBody>
          <a:bodyPr>
            <a:noAutofit/>
          </a:bodyPr>
          <a:lstStyle/>
          <a:p>
            <a:pPr lvl="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 securely register and log in to the auction platform. </a:t>
            </a:r>
          </a:p>
          <a:p>
            <a:pPr lvl="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separate access and functionalities for buyers, sellers, and administrators. </a:t>
            </a:r>
          </a:p>
          <a:p>
            <a:pPr lvl="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update their personal information and account credentials. </a:t>
            </a:r>
          </a:p>
          <a:p>
            <a:pPr lvl="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manages user authentication and authorization. </a:t>
            </a:r>
          </a:p>
          <a:p>
            <a:pPr lvl="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monitor, manage, and control registered user accounts.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AB8B8-11BE-678C-AA56-04B2C061AD92}"/>
              </a:ext>
            </a:extLst>
          </p:cNvPr>
          <p:cNvSpPr txBox="1"/>
          <p:nvPr/>
        </p:nvSpPr>
        <p:spPr>
          <a:xfrm>
            <a:off x="2139043" y="243211"/>
            <a:ext cx="79139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</a:t>
            </a:r>
          </a:p>
          <a:p>
            <a:pPr algn="ctr">
              <a:buNone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MODULE</a:t>
            </a:r>
          </a:p>
        </p:txBody>
      </p:sp>
      <p:pic>
        <p:nvPicPr>
          <p:cNvPr id="8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3044" t="-741" r="4449" b="15519"/>
          <a:stretch/>
        </p:blipFill>
        <p:spPr>
          <a:xfrm>
            <a:off x="8067259" y="2458176"/>
            <a:ext cx="397139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443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E87041-F607-7D61-09CD-AC8C8FEE8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088" y="1410432"/>
            <a:ext cx="9004384" cy="50526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3E0821-FBE7-DB3E-0FB3-B5D71695FE97}"/>
              </a:ext>
            </a:extLst>
          </p:cNvPr>
          <p:cNvSpPr txBox="1"/>
          <p:nvPr/>
        </p:nvSpPr>
        <p:spPr>
          <a:xfrm>
            <a:off x="3048000" y="487102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3600" b="1">
                <a:solidFill>
                  <a:srgbClr val="FF0000"/>
                </a:solidFill>
                <a:latin typeface="Times New Roman"/>
              </a:rPr>
              <a:t>OUTPUT</a:t>
            </a:r>
            <a:endParaRPr lang="en-US" sz="3600">
              <a:latin typeface="Times New Roman"/>
              <a:cs typeface="Times New Roman"/>
            </a:endParaRPr>
          </a:p>
          <a:p>
            <a:pPr algn="ctr"/>
            <a:endParaRPr lang="en-US"/>
          </a:p>
        </p:txBody>
      </p:sp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805B2C8C-2815-8CC5-FD31-EA96C7604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76996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EAA20163-F4C7-F2CA-594C-F9DF5E053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302065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6926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B142C-8EC1-2E03-E90C-56AB3C91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777F-3E82-9631-AE88-CB1101C08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764" y="143128"/>
            <a:ext cx="8219621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MODULE 2 </a:t>
            </a:r>
            <a:b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 MODULE</a:t>
            </a:r>
            <a:endParaRPr lang="en-US" sz="3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E2BA35-7309-5596-09D0-1013DEEF0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8957" y="1752147"/>
            <a:ext cx="7094764" cy="4664710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add products to the platform with relevant product details.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provide the product name, description, image, starting price, and other required information.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update or modify product information whenever required.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can view and search for products available for auction.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product information is securely stored and managed in the database.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86" y="2473779"/>
            <a:ext cx="4204808" cy="34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375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DA82FD-7531-0E7A-B671-7A2C83E7C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018" y="1389968"/>
            <a:ext cx="8980027" cy="50456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F58749-FAE9-0D30-7E97-6CF0285D285E}"/>
              </a:ext>
            </a:extLst>
          </p:cNvPr>
          <p:cNvSpPr txBox="1"/>
          <p:nvPr/>
        </p:nvSpPr>
        <p:spPr>
          <a:xfrm>
            <a:off x="2845443" y="506392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IN" sz="3600" b="1" i="0" u="none" strike="noStrike" baseline="0">
                <a:solidFill>
                  <a:srgbClr val="FF0000"/>
                </a:solidFill>
                <a:latin typeface="Times New Roman"/>
                <a:ea typeface="Segoe UI"/>
                <a:cs typeface="Segoe UI"/>
              </a:rPr>
              <a:t>OUTPUT</a:t>
            </a:r>
            <a:r>
              <a:rPr lang="en-US" sz="36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6B5A12CF-3A5D-A7AC-B82E-B4DDD83B3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6776F0FA-883C-41CA-BAD0-B42E40FD0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4195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5DD5-C772-E66E-9819-CDF694BE3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A8062-DF34-A756-9C31-8843B9F87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903" y="155772"/>
            <a:ext cx="7276193" cy="130027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MODULE 3 </a:t>
            </a:r>
            <a:b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AUCTION &amp; BIDDING MODULE</a:t>
            </a:r>
            <a:endParaRPr lang="en-US" sz="3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096CB1-B1EF-564D-959F-29D96764B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30" y="1714500"/>
            <a:ext cx="7954734" cy="4642077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create auctions by specifying the starting price and auction duration.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can browse available auctions and view detailed product information.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can place bids on products during the active auction period.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validates each bid and automatically updates the highest bid.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the highest bidder when the auction period ends.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Auction results and complete bidding history are maintained for transparency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r="49762"/>
          <a:stretch/>
        </p:blipFill>
        <p:spPr>
          <a:xfrm>
            <a:off x="8447591" y="2032226"/>
            <a:ext cx="3578402" cy="400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74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467F4D-F22F-0C6D-81EF-AC0C4763B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394" y="1398348"/>
            <a:ext cx="9017212" cy="50665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5ECA07-695D-7D72-AE0B-ABA20B254AC0}"/>
              </a:ext>
            </a:extLst>
          </p:cNvPr>
          <p:cNvSpPr txBox="1"/>
          <p:nvPr/>
        </p:nvSpPr>
        <p:spPr>
          <a:xfrm>
            <a:off x="2884340" y="393061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IN" sz="3600" b="1" i="0" u="none" strike="noStrike" baseline="0" dirty="0">
                <a:solidFill>
                  <a:srgbClr val="FF0000"/>
                </a:solidFill>
                <a:latin typeface="Times New Roman"/>
                <a:ea typeface="Segoe UI"/>
                <a:cs typeface="Segoe UI"/>
              </a:rPr>
              <a:t>OUTPUT</a:t>
            </a:r>
            <a:r>
              <a:rPr lang="en-US" sz="3600" b="0" i="0" dirty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 dirty="0"/>
          </a:p>
        </p:txBody>
      </p:sp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C756F37B-7976-DF11-FF2A-78CD9FE07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3E9715EB-D757-C240-FCAA-BDEC6DC29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5731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E9237-D299-984D-1161-A2F544DA7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67B8-7171-D675-0A8C-CEC2E662E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508" y="143128"/>
            <a:ext cx="8574314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MODULE 4 </a:t>
            </a:r>
            <a:b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&amp; TRANSACTION MODULE</a:t>
            </a:r>
            <a:endParaRPr lang="en-US" sz="3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1478F-D741-49A6-89D0-54F15EC21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6559" y="1792968"/>
            <a:ext cx="7003141" cy="4739640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the winning bidder to proceed with the payment after the auction ends.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details are recorded and associated with the corresponding auction.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can view their payment and transaction history.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view the transaction details related to their sold products.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monitor and manage payment and transaction records.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81" y="2293166"/>
            <a:ext cx="3972561" cy="375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601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321BEF-820A-6E3E-7391-A1A963954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962" y="1210599"/>
            <a:ext cx="9114901" cy="51002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973F71-69F7-2E86-8336-4C216A8735D8}"/>
              </a:ext>
            </a:extLst>
          </p:cNvPr>
          <p:cNvSpPr txBox="1"/>
          <p:nvPr/>
        </p:nvSpPr>
        <p:spPr>
          <a:xfrm>
            <a:off x="2922608" y="284545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IN" sz="3600" b="1" i="0" u="none" strike="noStrike" baseline="0">
                <a:solidFill>
                  <a:srgbClr val="FF0000"/>
                </a:solidFill>
                <a:latin typeface="Times New Roman"/>
                <a:ea typeface="Segoe UI"/>
                <a:cs typeface="Segoe UI"/>
              </a:rPr>
              <a:t>OUTPUT</a:t>
            </a:r>
            <a:r>
              <a:rPr lang="en-US" sz="36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59EB8B04-D362-7E5F-FAF3-027F0452B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5C3387E5-0AE2-C59C-3904-B42A88E40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5984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4F7DE-F080-5AB1-2DB6-049D8F46938E}"/>
              </a:ext>
            </a:extLst>
          </p:cNvPr>
          <p:cNvSpPr txBox="1">
            <a:spLocks/>
          </p:cNvSpPr>
          <p:nvPr/>
        </p:nvSpPr>
        <p:spPr>
          <a:xfrm>
            <a:off x="838200" y="356696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MODULE 5 </a:t>
            </a:r>
          </a:p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&amp; REPORTS MODULE</a:t>
            </a:r>
            <a:endParaRPr lang="en-US" sz="3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D65DEF36-D5A5-753C-8A6C-653124720084}"/>
              </a:ext>
            </a:extLst>
          </p:cNvPr>
          <p:cNvSpPr txBox="1">
            <a:spLocks/>
          </p:cNvSpPr>
          <p:nvPr/>
        </p:nvSpPr>
        <p:spPr>
          <a:xfrm>
            <a:off x="301814" y="1901865"/>
            <a:ext cx="7256577" cy="474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manage and monitor registered users on the platform.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monitor products and active or completed auctions.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monitor bidding activities and auction results.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manage payment and transaction records.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reports related to users, products, auctions, and transactions.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administrator can monitor overall system activities to ensure efficient operation.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0085AE7A-0899-B599-E754-09BA2B256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9F5B573B-3B40-2E10-9741-D83A6B654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6E36D3-7B8A-BDE2-9A6F-687E42F977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10" t="883" r="4699" b="10286"/>
          <a:stretch>
            <a:fillRect/>
          </a:stretch>
        </p:blipFill>
        <p:spPr>
          <a:xfrm>
            <a:off x="7762672" y="2577831"/>
            <a:ext cx="4342049" cy="324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581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4CA7B8-588E-B6C8-E3CE-B7FF9466B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178" y="1263993"/>
            <a:ext cx="9258276" cy="52069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28E9E5-BB57-B9D2-376C-40BCA758CDC3}"/>
              </a:ext>
            </a:extLst>
          </p:cNvPr>
          <p:cNvSpPr txBox="1"/>
          <p:nvPr/>
        </p:nvSpPr>
        <p:spPr>
          <a:xfrm>
            <a:off x="2903316" y="284544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IN" sz="3600" b="1" i="0" u="none" strike="noStrike" baseline="0">
                <a:solidFill>
                  <a:srgbClr val="FF0000"/>
                </a:solidFill>
                <a:latin typeface="Times New Roman"/>
                <a:ea typeface="Segoe UI"/>
                <a:cs typeface="Segoe UI"/>
              </a:rPr>
              <a:t>OUTPUT</a:t>
            </a:r>
            <a:r>
              <a:rPr lang="en-US" sz="3600" b="0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A7F4DB03-5769-838A-B700-3530D7970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8EBC7DD4-F9F2-2CC3-014D-245BD6C8A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24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AD34A-A7F6-D594-48ED-C858D4652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CD0AD2-B093-DCB5-E42C-C792465E586D}"/>
              </a:ext>
            </a:extLst>
          </p:cNvPr>
          <p:cNvSpPr txBox="1"/>
          <p:nvPr/>
        </p:nvSpPr>
        <p:spPr>
          <a:xfrm>
            <a:off x="921656" y="1888306"/>
            <a:ext cx="10648044" cy="4602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supports user registration, login, authentication, and profile management.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Sellers can add, update, delete, and manage products available for auction.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Buyers can participate in auctions, place bids, and view the current highest bid.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the highest bidder when the auction ends, ensuring a fair selection process.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Winning bidders can complete payments, while transaction details are securely recorded.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monitor users, products, auctions, and transactions and generate relevant reports.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E66A60-9FDE-9766-EB3C-7C1AE67FC6BC}"/>
              </a:ext>
            </a:extLst>
          </p:cNvPr>
          <p:cNvSpPr txBox="1"/>
          <p:nvPr/>
        </p:nvSpPr>
        <p:spPr>
          <a:xfrm>
            <a:off x="2374265" y="538579"/>
            <a:ext cx="741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B313BDF3-71A6-A035-AB2E-A5871E13B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Saveetha School of Engineering, Chennai ...">
            <a:extLst>
              <a:ext uri="{FF2B5EF4-FFF2-40B4-BE49-F238E27FC236}">
                <a16:creationId xmlns:a16="http://schemas.microsoft.com/office/drawing/2014/main" id="{11B4DDA6-3702-E5A9-81CE-F451A236B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8125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BBFF83-5939-9131-7A3B-59F516B8C1C6}"/>
              </a:ext>
            </a:extLst>
          </p:cNvPr>
          <p:cNvSpPr txBox="1"/>
          <p:nvPr/>
        </p:nvSpPr>
        <p:spPr>
          <a:xfrm>
            <a:off x="1955165" y="1948561"/>
            <a:ext cx="78359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Windows, Linux, or macOS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React.js, HTML, CSS, JavaScript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(Java) or Node.js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Framework: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TensorFlow or Scikit-learn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Code, IntelliJ IDEA, or Eclipse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Chrome, Microsoft Edge, or Firefox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A65536-BF50-B9AD-B368-E4129FAF5436}"/>
              </a:ext>
            </a:extLst>
          </p:cNvPr>
          <p:cNvSpPr txBox="1"/>
          <p:nvPr/>
        </p:nvSpPr>
        <p:spPr>
          <a:xfrm>
            <a:off x="2374265" y="520210"/>
            <a:ext cx="741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pic>
        <p:nvPicPr>
          <p:cNvPr id="6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95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4"/>
            <a:ext cx="927735" cy="102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87016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A7CB33-2AEC-B40D-EE28-EA8A32AFD21F}"/>
              </a:ext>
            </a:extLst>
          </p:cNvPr>
          <p:cNvSpPr txBox="1"/>
          <p:nvPr/>
        </p:nvSpPr>
        <p:spPr>
          <a:xfrm>
            <a:off x="739361" y="2052658"/>
            <a:ext cx="6473203" cy="4191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product recommendations based on user interests and bidding history.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bid updates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online payment gateway integration.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for anytime, anywhere auction access.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notifications for bids, auction results, and payments.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security and fraud detection for improved reliability.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DD076-D2CE-A119-F2C5-562452F805BF}"/>
              </a:ext>
            </a:extLst>
          </p:cNvPr>
          <p:cNvSpPr txBox="1"/>
          <p:nvPr/>
        </p:nvSpPr>
        <p:spPr>
          <a:xfrm>
            <a:off x="3889833" y="544134"/>
            <a:ext cx="441759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FUTURE SCOPE</a:t>
            </a:r>
            <a:endParaRPr lang="en-US" sz="4000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3240775B-A2C4-4EF1-C8B2-40FCDC185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2101469E-A899-2BE4-E5FD-D75BEEA5F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C102D0-CD67-AEFF-3A88-45F1F8B3F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91" y="2267339"/>
            <a:ext cx="4539911" cy="350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767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05DB3C-4EAB-3DA4-1135-CA6BFE5A240C}"/>
              </a:ext>
            </a:extLst>
          </p:cNvPr>
          <p:cNvSpPr txBox="1"/>
          <p:nvPr/>
        </p:nvSpPr>
        <p:spPr>
          <a:xfrm>
            <a:off x="921656" y="1669415"/>
            <a:ext cx="10648044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Real-Time Web Based Auction and Bidding System provides a secure and user-friendly platform for conducting online auctions.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tracks the highest bid and selects the winner when the auction ends.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and transaction details are maintained for accurate record keeping.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 can manage users, auctions, transactions, and generate reports.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improves transparency, accessibility, efficiency, and reliability in the online auction process.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7CD79-90E9-617A-1043-427FC7C8B500}"/>
              </a:ext>
            </a:extLst>
          </p:cNvPr>
          <p:cNvSpPr txBox="1"/>
          <p:nvPr/>
        </p:nvSpPr>
        <p:spPr>
          <a:xfrm>
            <a:off x="2374265" y="538579"/>
            <a:ext cx="741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88F1D643-2DB4-23A6-C654-725C922A6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Saveetha School of Engineering, Chennai ...">
            <a:extLst>
              <a:ext uri="{FF2B5EF4-FFF2-40B4-BE49-F238E27FC236}">
                <a16:creationId xmlns:a16="http://schemas.microsoft.com/office/drawing/2014/main" id="{F863C334-B33A-24EE-E456-892506B2F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366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47775-0306-78B6-3690-6C1375A2C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86AD1B-3963-67CA-CB1A-B97C8EE50C24}"/>
              </a:ext>
            </a:extLst>
          </p:cNvPr>
          <p:cNvSpPr txBox="1"/>
          <p:nvPr/>
        </p:nvSpPr>
        <p:spPr>
          <a:xfrm>
            <a:off x="895671" y="1597882"/>
            <a:ext cx="10400657" cy="4892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C.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Chikkudu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Srinaramdas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Nagesh, and S. Kambli, “Web Bidding Platform,” Advanced Innovations in Computer Programming Languages, vol. 7, no. 3, pp. 64–70, 2025. �</a:t>
            </a:r>
          </a:p>
          <a:p>
            <a:pPr algn="just">
              <a:lnSpc>
                <a:spcPct val="150000"/>
              </a:lnSpc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Zenodo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H. Ekhande, P. Biradar, A.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Lahane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Singh, and N.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Shivale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“Online Auction System,” International Journal of Advance Research, Ideas and Innovations in Technology, vol. 10, no. 1, 2024. �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IJARIIT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S. P.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Gunjal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Birajdar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Phalke, N.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Raskar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T. Gouri, “E-Auction—A Web Based Electronic Auctioning System,” International Journal for Research in Applied Science &amp; Engineering Technology, 2024.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V. Naveenkumar, S. Abirami, K. Dharshini, E. Girija, and J. Hemalini, “Online Auction System Using PHP and MySQL,” International Journal of Engineering Research and Modern Education, vol. 7, no. 1, pp. 22–27, 2022. �</a:t>
            </a:r>
          </a:p>
          <a:p>
            <a:pPr algn="just">
              <a:lnSpc>
                <a:spcPct val="150000"/>
              </a:lnSpc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Zenodo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I. A. Omar, H. R. Hasan, R. Jayaraman, K. Salah, and M. Omar, “Implementing Decentralized Auctions Using Blockchain Smart Contracts,” Technological Forecasting and Social Change, 2021.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A76A3-8CA7-C4D0-B13F-5598297F5111}"/>
              </a:ext>
            </a:extLst>
          </p:cNvPr>
          <p:cNvSpPr txBox="1"/>
          <p:nvPr/>
        </p:nvSpPr>
        <p:spPr>
          <a:xfrm>
            <a:off x="2258518" y="504329"/>
            <a:ext cx="7416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REFERENCES</a:t>
            </a:r>
          </a:p>
        </p:txBody>
      </p:sp>
      <p:pic>
        <p:nvPicPr>
          <p:cNvPr id="7" name="Picture 2" descr="Saveetha University | Chennai">
            <a:extLst>
              <a:ext uri="{FF2B5EF4-FFF2-40B4-BE49-F238E27FC236}">
                <a16:creationId xmlns:a16="http://schemas.microsoft.com/office/drawing/2014/main" id="{0DA61655-D31E-6970-668A-712A0B077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Saveetha School of Engineering, Chennai ...">
            <a:extLst>
              <a:ext uri="{FF2B5EF4-FFF2-40B4-BE49-F238E27FC236}">
                <a16:creationId xmlns:a16="http://schemas.microsoft.com/office/drawing/2014/main" id="{E51B0ED6-8D5F-2643-8CCC-7DB00E7BC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877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5ED0-76AF-E576-4376-DB80FB7B4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935" y="2235539"/>
            <a:ext cx="9658349" cy="2622211"/>
          </a:xfrm>
        </p:spPr>
        <p:txBody>
          <a:bodyPr>
            <a:noAutofit/>
          </a:bodyPr>
          <a:lstStyle/>
          <a:p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1202074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1685</Words>
  <Application>Microsoft Office PowerPoint</Application>
  <PresentationFormat>Widescreen</PresentationFormat>
  <Paragraphs>169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Times New Roman</vt:lpstr>
      <vt:lpstr>Wingdings</vt:lpstr>
      <vt:lpstr>Office Theme</vt:lpstr>
      <vt:lpstr>REAL TIME WEB BASED AUCTION AND BIDDING SYSTEM</vt:lpstr>
      <vt:lpstr>ABSTRACT</vt:lpstr>
      <vt:lpstr>INTRODUCTION</vt:lpstr>
      <vt:lpstr>PROBLEM STATEMENT</vt:lpstr>
      <vt:lpstr>OBJECTIVES</vt:lpstr>
      <vt:lpstr>LITERATURE REVIEW</vt:lpstr>
      <vt:lpstr>PowerPoint Presentation</vt:lpstr>
      <vt:lpstr>  EXISTING SYSTEM &amp;PROPOSED SYSTEM  </vt:lpstr>
      <vt:lpstr>SYSTEM ARCHITECTURE</vt:lpstr>
      <vt:lpstr> </vt:lpstr>
      <vt:lpstr>PowerPoint Presentation</vt:lpstr>
      <vt:lpstr> MODULE 2  PRODUCT MANAGEMENT MODULE</vt:lpstr>
      <vt:lpstr>PowerPoint Presentation</vt:lpstr>
      <vt:lpstr>  MODULE 3  AUCTION &amp; BIDDING MODULE</vt:lpstr>
      <vt:lpstr>PowerPoint Presentation</vt:lpstr>
      <vt:lpstr>   MODULE 4  PAYMENT &amp; TRANSACTION MODULE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Disk Scheduling and I/O Optimization System Using a Hybrid Scheduling Algorithm</dc:title>
  <dc:creator>C.c. Jyoshna</dc:creator>
  <cp:lastModifiedBy>yaso priya</cp:lastModifiedBy>
  <cp:revision>103</cp:revision>
  <dcterms:created xsi:type="dcterms:W3CDTF">2026-06-18T05:40:23Z</dcterms:created>
  <dcterms:modified xsi:type="dcterms:W3CDTF">2026-09-03T04:43:56Z</dcterms:modified>
</cp:coreProperties>
</file>